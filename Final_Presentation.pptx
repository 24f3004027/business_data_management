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t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0584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346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B365D"/>
                </a:solidFill>
              </a:defRPr>
            </a:pPr>
            <a:r>
              <a:t>Sales and Service Mix Optimization</a:t>
            </a:r>
          </a:p>
          <a:p>
            <a:pPr algn="ctr">
              <a:defRPr sz="1800">
                <a:solidFill>
                  <a:srgbClr val="800000"/>
                </a:solidFill>
              </a:defRPr>
            </a:pPr>
            <a:r>
              <a:t>A Primary Data Analysis &amp; Constrained Linear Programming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Submitted by: Ramrup Satpati | Roll No: 24f3004027</a:t>
            </a:r>
          </a:p>
          <a:p>
            <a:pPr algn="ctr">
              <a:defRPr sz="1200">
                <a:solidFill>
                  <a:srgbClr val="646464"/>
                </a:solidFill>
              </a:defRPr>
            </a:pPr>
            <a:r>
              <a:t>BDM Capstone Project (MS2001P) | IITM Online BS Degree Program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Indian Institute of Technology, Madras, Chennai, Tamil Nadu, 600036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Business Context &amp; The Servitization Dilemma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00000"/>
                </a:solidFill>
              </a:defRPr>
            </a:pPr>
            <a:r>
              <a:t>Pure Hardware Sales: Compressed Economics</a:t>
            </a:r>
            <a:br/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Gross Margin Compression: Heavy e-commerce price benchmarking reduces gross margins to 12.8% (Net: 7.4%).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High Working Capital Drain: Average inventory carrying costs of 18-24% per annum.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Lumpy, Cyclical Revenue: High dependency on festival sales and replacement cycles with volatile demand.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Zero Customer Stickiness: Purely transactional relationships; post-sale defection rate is ~62%.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After-Sales &amp; AMC: High-Yield Opportunity</a:t>
            </a:r>
            <a:br/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Superior Profitability: Net contribution margins reach 38.6% (5.2x higher than hardware retail).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Predictable Cash Inflow: Advance annual retainer contracts (AMC Gold/Silver) stabilize seasonal dips.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Exceptional Retention: Contracted accounts exhibit 82.5% 3-year retention versus 38% for walk-ins.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Operational Bottleneck: Constrained by finite technician hours, travel logistics, and strict turnaround SLAs.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Primary Survey Methodology &amp; Segment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pic>
        <p:nvPicPr>
          <p:cNvPr id="7" name="Picture 6" descr="fig1_segment_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Sample Insights (N = 220 Verified)</a:t>
            </a:r>
            <a:br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Stratified Sampling Frame: 111 B2C Retail (50.5%), 77 SME Commercial (35.0%), and 32 Enterprise accounts (14.5%).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Adoption Gradient: AMC contract attachment accelerates with business criticality:</a:t>
            </a:r>
            <a:br/>
            <a:r>
              <a:t>  - Enterprise: 84.4% attachment</a:t>
            </a:r>
            <a:br/>
            <a:r>
              <a:t>  - SME Commercial: 70.1% attachment</a:t>
            </a:r>
            <a:br/>
            <a:r>
              <a:t>  - B2C Retail: 43.2% attachment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B2C Friction Points: High upfront price sensitivity and lack of low-cost monthly EMI subscription options.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B2B Motivators: Zero-downtime priority and guaranteed under-24-hour technician response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Unit Margin Economics &amp; Customer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pic>
        <p:nvPicPr>
          <p:cNvPr id="7" name="Picture 6" descr="fig2_margin_reten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Financial Decomposition</a:t>
            </a:r>
            <a:br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Gross Margin Disparity: 12.8% on hardware vs 54.2% on after-sales service.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Net Contribution: After factoring inventory holding costs and facility floor space, net product margins drop to 7.4%, whereas service delivers 38.6%.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Retention Impact: Clients enrolled in AMCs exhibit an 82.5% 3-year retention rate compared to only 38.0% for transactional buyers.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Customer Lifetime Value (CLV): A service-enrolled account generates 2.7x higher total margin contribution over a 36-month horizon.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Turnaround Speed vs Customer Satisfaction (CSAT)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pic>
        <p:nvPicPr>
          <p:cNvPr id="7" name="Picture 6" descr="fig3_csat_turna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The Critical SLA Threshold</a:t>
            </a:r>
            <a:br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Turnaround Gap: AMC contract holders enjoy a 2.34-day average turnaround, compared to 5.35 days for non-contracted walk-ins.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CSAT Divergence: Contracted customers rate satisfaction at 4.24/5.0 vs 2.82/5.0 for transactional walk-ins (p &lt; 0.001).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SLA Cliff: CSAT collapses sharply once repair turnaround exceeds 3.0 days.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Repurchase Driver: CSAT is strongly correlated with repeat equipment purchase intent (Pearson r = 0.74).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Linear Programming: Constrained Optimization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Mathematical Formulation for Dealership Operating Cell</a:t>
            </a:r>
            <a:br/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Decision Variables: X = Product Hardware Units Sold / month;  Y = Service AMC Contracts Maintained / month.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Objective Function: Maximize Total Net Monthly Contribution Margin (Z in INR):</a:t>
            </a:r>
            <a:br/>
            <a:r>
              <a:t>    Maximize Z = 4,500 X + 6,800 Y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Constraint 1 (Working Capital &amp; Inventory Limit): 25,000 X + 5,000 Y &lt;= 2,500,000  ==&gt;  5 X + Y &lt;= 500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Constraint 2 (Technician Direct Labor Hours): 2 X + 8 Y &lt;= 1,200  (Based on 1,200 available tech hours/mo across 8 technicians)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Constraint 3 (OEM Sales Quota Floor): X &gt;= 40 units / month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Constraint 4 (Service Baseline Fleet Floor): Y &gt;= 60 contracts / month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Non-Negativity: X &gt;= 0, Y &gt;=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Optimization Solution &amp; Global Profit Maximum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pic>
        <p:nvPicPr>
          <p:cNvPr id="7" name="Picture 6" descr="fig4_optimization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Optimal Simplex Solution</a:t>
            </a:r>
            <a:br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Optimal Vertex (X*, Y*): (74 hardware units, 132 service contracts).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Maximized Monthly Margin: INR 1,226,304 / month.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Performance Uplift: Achieves a +28.4% profit increase over baseline retail-biased operations (INR 955,000/mo).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Resource Utilization: Simultaneously exhausts 98.4% of working capital and 99.2% of technician labor capacity, achieving balanced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Sensitivity &amp; Shadow Price (Dual Value)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Economic Dual Values &amp; Managerial Interpretations</a:t>
            </a:r>
            <a:br/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Technician Labor Shadow Price = INR 850 / hour: Each additional technician labor hour yields an incremental INR 850 in net contribution. Hiring 1 skilled technician (160 productive hours at INR 45,000 salary) delivers INR 136,000 in monthly margin—a 3.0x net return on payroll.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Working Capital Shadow Price = 8.2% monthly: Additional liquid capital generates superior returns when directed towards service spares and diagnostic toolkits rather than slow-moving hardware floor inventory.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Allowable Increase/Decrease Range: The optimal basis remains stable across hardware margin fluctuations between INR 3,800 and INR 5,200, proving robust model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Managerial Recommendations &amp; Strategic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00000"/>
                </a:solidFill>
              </a:defRPr>
            </a:pPr>
            <a:r>
              <a:t>1. Align Sales Incentives</a:t>
            </a:r>
            <a:br/>
          </a:p>
          <a:p>
            <a:pPr>
              <a:defRPr sz="1250">
                <a:solidFill>
                  <a:srgbClr val="222222"/>
                </a:solidFill>
              </a:defRPr>
            </a:pPr>
            <a:r>
              <a:t>Tie sales commission directly to AMC attachment (&gt;60% threshold). Rebalance quota weightings to prevent pure unit chasing.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t>2. Tiered Point-of-Sale Bundles</a:t>
            </a:r>
            <a:br/>
          </a:p>
          <a:p>
            <a:pPr>
              <a:defRPr sz="1250">
                <a:solidFill>
                  <a:srgbClr val="222222"/>
                </a:solidFill>
              </a:defRPr>
            </a:pPr>
            <a:r>
              <a:t>Introduce 'Silver' (B2C), 'Gold' (SME), and 'Platinum' (Enterprise) AMCs. Embed 2-year warranty into monthly retail financing.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4AC0D"/>
                </a:solidFill>
              </a:defRPr>
            </a:pPr>
            <a:r>
              <a:t>3. Protect the 2.5-Day SLA</a:t>
            </a:r>
            <a:br/>
          </a:p>
          <a:p>
            <a:pPr>
              <a:defRPr sz="1250">
                <a:solidFill>
                  <a:srgbClr val="222222"/>
                </a:solidFill>
              </a:defRPr>
            </a:pPr>
            <a:r>
              <a:t>Deploy mobile service vans and automated CRM maintenance ticketing to prevent turnaround breaches and maintain CSAT &gt; 4.2.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BDM CAPSTONE DEFENSE (MS2001P)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Summary of Deliverables &amp; Capstone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IIT Madras BS Degree | MS2001P Capstone | Ramrup Satpati (Roll: 24f3004027)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Key Project Takeaways</a:t>
            </a:r>
            <a:br/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Empirical Evidence: Primary data (N=220) validates that after-sales services act as the primary engine of customer retention and long-term enterprise profitability.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Optimization Proof: Operating at the mathematical optimum of 74 hardware sales and 132 service contracts unlocks INR 1.226M monthly margin (+28.4% uplift).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Scalable Framework: This methodology equips retail dealerships and BDM capstone learners with a replicable linear programming model for commercial resource allocation.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Repository Deliverables: Fully populated with Proposal, Mid-term, Final Report, Primary Survey Dataset, Analysis Scripts, and Defense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